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66" r:id="rId3"/>
    <p:sldId id="268" r:id="rId4"/>
    <p:sldId id="265" r:id="rId5"/>
    <p:sldId id="267" r:id="rId6"/>
  </p:sldIdLst>
  <p:sldSz cx="9144000" cy="6858000" type="screen4x3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BE92C949-3083-DDAE-E552-734562EA9E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4CC3DC6C-364C-00C5-19A9-017DFB754B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4BBDB3-7AC8-49E5-9A73-4603E77AAF12}" type="datetimeFigureOut">
              <a:rPr lang="es-CO"/>
              <a:pPr>
                <a:defRPr/>
              </a:pPr>
              <a:t>20/10/2025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C0328E3C-D08F-2CFD-E068-74D797026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45816F43-1B19-21F2-19C9-1E219C6A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C4F3668-4F73-3EC3-24D1-DA1841FF19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0F7CBC64-78FB-9714-7AB3-781A9D262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05A61EF-A413-4572-B9C0-15D2EEC59714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410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7249F-F2BE-47F2-A8AB-0992E5DC4653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032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C22D8B77-C1D3-0A00-A869-65B12D839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7C764-0E45-4505-817A-12909C5376F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1778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E64F5B6D-0F88-EA15-C860-E322D68B0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47513-D27B-4AEA-A85D-B9DD5D2AB3F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5534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>
            <a:extLst>
              <a:ext uri="{FF2B5EF4-FFF2-40B4-BE49-F238E27FC236}">
                <a16:creationId xmlns:a16="http://schemas.microsoft.com/office/drawing/2014/main" id="{61A83241-5594-598F-1BF5-FA5C0DC0D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A769A3-85E2-4839-8E5E-8A5436FF1AC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527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5C5AD3D6-62F2-FCB9-7094-234CDAE31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69B23B-F899-451E-B145-7F8D8886E878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34370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5 Marcador de número de diapositiva">
            <a:extLst>
              <a:ext uri="{FF2B5EF4-FFF2-40B4-BE49-F238E27FC236}">
                <a16:creationId xmlns:a16="http://schemas.microsoft.com/office/drawing/2014/main" id="{D3A27087-6EC7-2356-65C7-D71AE73E8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C251DF-3702-4306-959F-3E2BD82C35BF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25131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>
            <a:extLst>
              <a:ext uri="{FF2B5EF4-FFF2-40B4-BE49-F238E27FC236}">
                <a16:creationId xmlns:a16="http://schemas.microsoft.com/office/drawing/2014/main" id="{2F30945E-3CCA-CF02-2FC4-E0C6EC7F4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5CC389-7F26-4725-9023-4E3F2345139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775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>
            <a:extLst>
              <a:ext uri="{FF2B5EF4-FFF2-40B4-BE49-F238E27FC236}">
                <a16:creationId xmlns:a16="http://schemas.microsoft.com/office/drawing/2014/main" id="{1F36965F-0DB7-FDB6-1BDC-C060CB82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93947-508A-45BE-86AE-62D57ACA10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7621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6C5A0EE-9FB2-FEB2-6878-507E202EC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B7450B-753A-4D0C-B28A-0047C690496A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67954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384546BB-A4E5-3B58-2ACB-27A5C74B1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5E326B-E61B-404A-91AD-F3330371B9CB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5680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>
            <a:extLst>
              <a:ext uri="{FF2B5EF4-FFF2-40B4-BE49-F238E27FC236}">
                <a16:creationId xmlns:a16="http://schemas.microsoft.com/office/drawing/2014/main" id="{5CB46EE3-431F-BB36-CA9D-04500F8273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1563" y="1785938"/>
            <a:ext cx="82296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2 Marcador de texto">
            <a:extLst>
              <a:ext uri="{FF2B5EF4-FFF2-40B4-BE49-F238E27FC236}">
                <a16:creationId xmlns:a16="http://schemas.microsoft.com/office/drawing/2014/main" id="{401DA00B-C6A8-2C61-B79B-B7D77AF7FC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71563" y="2500313"/>
            <a:ext cx="785812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6" name="5 Marcador de número de diapositiva">
            <a:extLst>
              <a:ext uri="{FF2B5EF4-FFF2-40B4-BE49-F238E27FC236}">
                <a16:creationId xmlns:a16="http://schemas.microsoft.com/office/drawing/2014/main" id="{CAA3CB7F-6069-7DE9-612F-7EB7AE84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825" y="6421438"/>
            <a:ext cx="5905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b="1"/>
            </a:lvl1pPr>
          </a:lstStyle>
          <a:p>
            <a:fld id="{4D557006-C754-4C49-B04C-609781B5F229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1 Título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7772400" cy="1793875"/>
          </a:xfrm>
        </p:spPr>
        <p:txBody>
          <a:bodyPr/>
          <a:lstStyle/>
          <a:p>
            <a:pPr algn="ctr" eaLnBrk="1" hangingPunct="1"/>
            <a:r>
              <a:rPr lang="es-CO" altLang="es-CO" dirty="0"/>
              <a:t>VIVIAN CABANZO FERNÁNDEZ</a:t>
            </a:r>
            <a:br>
              <a:rPr lang="es-CO" altLang="es-CO" dirty="0"/>
            </a:br>
            <a:r>
              <a:rPr lang="es-CO" altLang="es-CO" dirty="0"/>
              <a:t>LAURA DANIELA DIAZ TORRES</a:t>
            </a:r>
            <a:br>
              <a:rPr lang="es-CO" altLang="es-CO" dirty="0"/>
            </a:br>
            <a:r>
              <a:rPr lang="es-CO" altLang="es-CO" dirty="0"/>
              <a:t>CRISTIAN FELIPE MUÑOZ GUERRERO</a:t>
            </a:r>
            <a:br>
              <a:rPr lang="es-CO" altLang="es-CO" dirty="0"/>
            </a:br>
            <a:r>
              <a:rPr lang="es-CO" altLang="es-CO" dirty="0"/>
              <a:t>ZENNETH OLIVERO TAPIA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6A67B959-F5C7-E461-4D06-04057BB87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72" y="3284984"/>
            <a:ext cx="6400800" cy="3233216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 err="1"/>
              <a:t>Problem</a:t>
            </a:r>
            <a:r>
              <a:rPr lang="es-CO" b="1" dirty="0"/>
              <a:t> Set 2 – </a:t>
            </a:r>
            <a:r>
              <a:rPr lang="es-CO" b="1" dirty="0" err="1"/>
              <a:t>Predicting</a:t>
            </a:r>
            <a:r>
              <a:rPr lang="es-CO" b="1" dirty="0"/>
              <a:t> </a:t>
            </a:r>
            <a:r>
              <a:rPr lang="es-CO" b="1" dirty="0" err="1"/>
              <a:t>Poverty</a:t>
            </a: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BIG DATA Y MACHINE LEARNING PARA ECONOMIA APLICADA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2025-02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dirty="0"/>
              <a:t>data_equipo_08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MEJOR MODELO ENSAMBLE (XGBOOST – CART)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b="1" dirty="0"/>
              <a:t>0.54</a:t>
            </a:r>
          </a:p>
        </p:txBody>
      </p:sp>
    </p:spTree>
    <p:extLst>
      <p:ext uri="{BB962C8B-B14F-4D97-AF65-F5344CB8AC3E}">
        <p14:creationId xmlns:p14="http://schemas.microsoft.com/office/powerpoint/2010/main" val="381758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764B55-0F86-90CD-D38E-6E2CDCF53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645024"/>
            <a:ext cx="8176800" cy="24482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4399D47-E4BB-B304-EB39-9AD9BFE3F47E}"/>
              </a:ext>
            </a:extLst>
          </p:cNvPr>
          <p:cNvSpPr txBox="1"/>
          <p:nvPr/>
        </p:nvSpPr>
        <p:spPr>
          <a:xfrm>
            <a:off x="755576" y="2204864"/>
            <a:ext cx="817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objetivo fue </a:t>
            </a:r>
            <a:r>
              <a:rPr lang="es-MX" b="1" dirty="0"/>
              <a:t>reducir la varianza</a:t>
            </a:r>
            <a:r>
              <a:rPr lang="es-MX" dirty="0"/>
              <a:t> y </a:t>
            </a:r>
            <a:r>
              <a:rPr lang="es-MX" b="1" dirty="0"/>
              <a:t>mejorar la estabilidad</a:t>
            </a:r>
            <a:r>
              <a:rPr lang="es-MX" dirty="0"/>
              <a:t> de las predicciones frente al desbalance de clases (</a:t>
            </a:r>
            <a:r>
              <a:rPr lang="es-MX" i="1" dirty="0"/>
              <a:t>Pobre: 20%, </a:t>
            </a:r>
            <a:r>
              <a:rPr lang="es-MX" i="1" dirty="0" err="1"/>
              <a:t>NoPobre</a:t>
            </a:r>
            <a:r>
              <a:rPr lang="es-MX" i="1" dirty="0"/>
              <a:t>: 80%</a:t>
            </a:r>
            <a:r>
              <a:rPr lang="es-MX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Se entrenó con </a:t>
            </a:r>
            <a:r>
              <a:rPr lang="es-CO" b="1" dirty="0"/>
              <a:t>validación cruzada estratificada</a:t>
            </a:r>
            <a:r>
              <a:rPr lang="es-CO" dirty="0"/>
              <a:t> (5-fold para XGB, 3-fold para CART) y ponderación de clases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696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6CC9CF-3B4E-D5D7-EF51-197780FA7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576" y="1916832"/>
                <a:ext cx="8424936" cy="41764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O" sz="1600" b="1" dirty="0"/>
                  <a:t>Razonamiento detrás del ensamble </a:t>
                </a:r>
                <a:r>
                  <a:rPr lang="es-CO" sz="1600" b="1" dirty="0" err="1"/>
                  <a:t>XGBoost</a:t>
                </a:r>
                <a:r>
                  <a:rPr lang="es-CO" sz="1600" b="1" dirty="0"/>
                  <a:t> + CART</a:t>
                </a:r>
              </a:p>
              <a:p>
                <a:r>
                  <a:rPr lang="es-CO" sz="1600" b="1" dirty="0"/>
                  <a:t>Motivación principal:</a:t>
                </a:r>
                <a:br>
                  <a:rPr lang="es-CO" sz="1600" dirty="0"/>
                </a:br>
                <a:r>
                  <a:rPr lang="es-CO" sz="1600" dirty="0" err="1"/>
                  <a:t>XGBoost</a:t>
                </a:r>
                <a:r>
                  <a:rPr lang="es-CO" sz="1600" dirty="0"/>
                  <a:t> es un modelo altamente predictivo pero complejo (poca interpretabilidad), mientras que CART es simple y transparente pero con menor capacidad predictiva.</a:t>
                </a:r>
              </a:p>
              <a:p>
                <a:pPr marL="0" indent="0">
                  <a:buNone/>
                </a:pPr>
                <a:br>
                  <a:rPr lang="es-CO" sz="1600" dirty="0"/>
                </a:br>
                <a:r>
                  <a:rPr lang="es-CO" sz="1600" b="1" dirty="0"/>
                  <a:t>Combinarlos permite equilibrar precisión y </a:t>
                </a:r>
                <a:r>
                  <a:rPr lang="es-CO" sz="1600" b="1" dirty="0" err="1"/>
                  <a:t>explicabilidad</a:t>
                </a:r>
                <a:endParaRPr lang="es-CO" sz="1600" b="1" dirty="0"/>
              </a:p>
              <a:p>
                <a:pPr marL="0" indent="0">
                  <a:buNone/>
                </a:pPr>
                <a:endParaRPr lang="es-CO" sz="1600" dirty="0"/>
              </a:p>
              <a:p>
                <a:r>
                  <a:rPr lang="es-CO" sz="1600" b="1" dirty="0"/>
                  <a:t>Complementariedad estructural:</a:t>
                </a:r>
                <a:endParaRPr lang="es-CO" sz="1600" dirty="0"/>
              </a:p>
              <a:p>
                <a:pPr lvl="1"/>
                <a:r>
                  <a:rPr lang="es-CO" sz="1600" b="1" dirty="0" err="1"/>
                  <a:t>XGBoost</a:t>
                </a:r>
                <a:r>
                  <a:rPr lang="es-CO" sz="1600" dirty="0"/>
                  <a:t> reduce el sesgo mediante </a:t>
                </a:r>
                <a:r>
                  <a:rPr lang="es-CO" sz="1600" i="1" dirty="0" err="1"/>
                  <a:t>boosting</a:t>
                </a:r>
                <a:r>
                  <a:rPr lang="es-CO" sz="1600" i="1" dirty="0"/>
                  <a:t> secuencial</a:t>
                </a:r>
                <a:r>
                  <a:rPr lang="es-CO" sz="1600" dirty="0"/>
                  <a:t>, capturando relaciones no lineales y complejas.</a:t>
                </a:r>
              </a:p>
              <a:p>
                <a:pPr lvl="1"/>
                <a:r>
                  <a:rPr lang="es-CO" sz="1600" b="1" dirty="0"/>
                  <a:t>CART</a:t>
                </a:r>
                <a:r>
                  <a:rPr lang="es-CO" sz="1600" dirty="0"/>
                  <a:t> reduce la varianza al ser un modelo único, interpretable y con divisiones claras</a:t>
                </a:r>
              </a:p>
              <a:p>
                <a:pPr lvl="1"/>
                <a:endParaRPr lang="es-CO" sz="1600" b="1" dirty="0"/>
              </a:p>
              <a:p>
                <a:pPr marL="457200" lvl="1" indent="0">
                  <a:buNone/>
                </a:pPr>
                <a:r>
                  <a:rPr lang="es-CO" sz="1600" b="1" dirty="0"/>
                  <a:t>Motivo técnico:</a:t>
                </a:r>
                <a:endParaRPr lang="es-CO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/>
                          </m:ctrlPr>
                        </m:sSubPr>
                        <m:e>
                          <m:r>
                            <a:rPr lang="ar-AE" sz="1600" i="1"/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s-CO" sz="1600" i="1"/>
                            <m:t>ensamble</m:t>
                          </m:r>
                        </m:sub>
                      </m:sSub>
                      <m:r>
                        <a:rPr lang="ar-AE" sz="1600"/>
                        <m:t>=</m:t>
                      </m:r>
                      <m:r>
                        <a:rPr lang="ar-AE" sz="1600" i="1"/>
                        <m:t>𝑤</m:t>
                      </m:r>
                      <m:r>
                        <a:rPr lang="ar-AE" sz="1600"/>
                        <m:t>⋅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𝑃</m:t>
                          </m:r>
                        </m:e>
                        <m:sub>
                          <m:r>
                            <a:rPr lang="ar-AE" sz="1600" i="1"/>
                            <m:t>𝑋𝐺𝐵</m:t>
                          </m:r>
                        </m:sub>
                      </m:sSub>
                      <m:r>
                        <a:rPr lang="ar-AE" sz="1600"/>
                        <m:t>+</m:t>
                      </m:r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/>
                            <m:t>1</m:t>
                          </m:r>
                          <m:r>
                            <a:rPr lang="ar-AE" sz="1600"/>
                            <m:t>−</m:t>
                          </m:r>
                          <m:r>
                            <a:rPr lang="ar-AE" sz="1600" i="1"/>
                            <m:t>𝑤</m:t>
                          </m:r>
                        </m:e>
                      </m:d>
                      <m:r>
                        <a:rPr lang="ar-AE" sz="1600"/>
                        <m:t>⋅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𝑃</m:t>
                          </m:r>
                        </m:e>
                        <m:sub>
                          <m:r>
                            <a:rPr lang="ar-AE" sz="1600" i="1"/>
                            <m:t>𝐶𝐴𝑅𝑇</m:t>
                          </m:r>
                        </m:sub>
                      </m:sSub>
                    </m:oMath>
                  </m:oMathPara>
                </a14:m>
                <a:endParaRPr lang="ar-AE" sz="1600" b="0" dirty="0"/>
              </a:p>
              <a:p>
                <a:endParaRPr lang="es-CO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46CC9CF-3B4E-D5D7-EF51-197780FA7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916832"/>
                <a:ext cx="8424936" cy="4176464"/>
              </a:xfrm>
              <a:blipFill>
                <a:blip r:embed="rId2"/>
                <a:stretch>
                  <a:fillRect l="-434" t="-437" r="-868" b="-29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20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B87F227-6905-4DCE-AE64-2AB556BDE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590" y="2132857"/>
            <a:ext cx="4445409" cy="3384376"/>
          </a:xfr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AC394BC-2E57-F734-4DAB-CE20424F2E2A}"/>
              </a:ext>
            </a:extLst>
          </p:cNvPr>
          <p:cNvSpPr txBox="1"/>
          <p:nvPr/>
        </p:nvSpPr>
        <p:spPr>
          <a:xfrm>
            <a:off x="827584" y="1700808"/>
            <a:ext cx="38884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/>
              <a:t>XGBoost</a:t>
            </a:r>
            <a:r>
              <a:rPr lang="es-CO" sz="1200" b="1" dirty="0"/>
              <a:t> – </a:t>
            </a:r>
            <a:r>
              <a:rPr lang="es-CO" sz="1200" b="1" dirty="0" err="1"/>
              <a:t>Grid</a:t>
            </a:r>
            <a:r>
              <a:rPr lang="es-CO" sz="1200" b="1" dirty="0"/>
              <a:t> </a:t>
            </a:r>
            <a:r>
              <a:rPr lang="es-CO" sz="1200" b="1" dirty="0" err="1"/>
              <a:t>Search</a:t>
            </a:r>
            <a:r>
              <a:rPr lang="es-CO" sz="1200" b="1" dirty="0"/>
              <a:t>:</a:t>
            </a:r>
          </a:p>
          <a:p>
            <a:r>
              <a:rPr lang="es-CO" sz="1200" dirty="0"/>
              <a:t>𝑛𝑟𝑜𝑢𝑛𝑑𝑠=600, 𝑚𝑎𝑥_𝑑𝑒𝑝𝑡ℎ=3–4, 𝜂=0.05, 𝛾=1, 𝑠𝑢𝑏𝑠𝑎𝑚𝑝𝑙𝑒=0.8, 𝑐𝑜𝑙𝑠𝑎𝑚𝑝𝑙𝑒_𝑏𝑦𝑡𝑟𝑒𝑒=0.7</a:t>
            </a:r>
          </a:p>
          <a:p>
            <a:endParaRPr lang="es-CO" sz="1200" dirty="0"/>
          </a:p>
          <a:p>
            <a:r>
              <a:rPr lang="es-CO" sz="1200" dirty="0"/>
              <a:t>Árboles poco profundos → control del sobreajuste.</a:t>
            </a:r>
          </a:p>
          <a:p>
            <a:r>
              <a:rPr lang="es-CO" sz="1200" dirty="0"/>
              <a:t>Tasa de aprendizaje baja → entrenamiento estable.</a:t>
            </a:r>
          </a:p>
          <a:p>
            <a:r>
              <a:rPr lang="es-CO" sz="1200" dirty="0"/>
              <a:t>Submuestreo → mayor diversidad y regularización implícita.</a:t>
            </a:r>
          </a:p>
          <a:p>
            <a:endParaRPr lang="es-CO" sz="1200" dirty="0"/>
          </a:p>
          <a:p>
            <a:r>
              <a:rPr lang="es-CO" sz="1200" b="1" dirty="0"/>
              <a:t>CART – Complejidad del árbol:</a:t>
            </a:r>
          </a:p>
          <a:p>
            <a:pPr algn="ctr"/>
            <a:r>
              <a:rPr lang="es-CO" sz="1200" dirty="0"/>
              <a:t>𝑐𝑝∈[0.001,0.01]</a:t>
            </a:r>
          </a:p>
          <a:p>
            <a:endParaRPr lang="es-CO" sz="1200" dirty="0"/>
          </a:p>
          <a:p>
            <a:r>
              <a:rPr lang="es-CO" sz="1200" dirty="0" err="1"/>
              <a:t>cp</a:t>
            </a:r>
            <a:r>
              <a:rPr lang="es-CO" sz="1200" dirty="0"/>
              <a:t>=0.001 fue el valor óptimo, equilibrando simplicidad e interpretabilidad.</a:t>
            </a:r>
          </a:p>
          <a:p>
            <a:r>
              <a:rPr lang="es-CO" sz="1200" dirty="0"/>
              <a:t>Poda efectiva: evita divisiones sin ganancia de información.</a:t>
            </a:r>
          </a:p>
          <a:p>
            <a:endParaRPr lang="es-CO" sz="1200" dirty="0"/>
          </a:p>
          <a:p>
            <a:r>
              <a:rPr lang="es-CO" sz="1200" b="1" dirty="0"/>
              <a:t>Optimización conjunta:</a:t>
            </a:r>
          </a:p>
          <a:p>
            <a:r>
              <a:rPr lang="es-CO" sz="1200" dirty="0"/>
              <a:t>𝑤𝑋𝐺𝐵=0.9, 𝑐𝑢𝑡𝑜𝑓𝑓=0.556</a:t>
            </a:r>
          </a:p>
          <a:p>
            <a:r>
              <a:rPr lang="es-CO" sz="1200" dirty="0"/>
              <a:t>Máximo F1 = 0.547 → equilibrio entre precisión y </a:t>
            </a:r>
            <a:r>
              <a:rPr lang="es-CO" sz="1200" dirty="0" err="1"/>
              <a:t>recall</a:t>
            </a:r>
            <a:r>
              <a:rPr lang="es-CO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50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33A3D-81DA-1927-89E1-BF089A3A9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1484784"/>
            <a:ext cx="7858125" cy="4143375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Conclusiones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Según los resultados de la validación cruzada interna, el ensamble mostró el mejor equilibrio entre precisión e interpretabilidad.</a:t>
            </a:r>
          </a:p>
          <a:p>
            <a:r>
              <a:rPr lang="es-MX" dirty="0"/>
              <a:t>La combinación de </a:t>
            </a:r>
            <a:r>
              <a:rPr lang="es-MX" dirty="0" err="1"/>
              <a:t>XGBoost</a:t>
            </a:r>
            <a:r>
              <a:rPr lang="es-MX" dirty="0"/>
              <a:t> y CART permitió reducir la varianza y mejorar la estabilidad de las predicciones, integrando potencia predictiva y capacidad explicativa.</a:t>
            </a:r>
          </a:p>
          <a:p>
            <a:r>
              <a:rPr lang="es-MX" dirty="0"/>
              <a:t>El uso del F1-score como métrica central alineó el proceso de ajuste con el objetivo del estudio: maximizar la detección de hogares pobres minimizando los falsos negativos.</a:t>
            </a:r>
          </a:p>
          <a:p>
            <a:r>
              <a:rPr lang="es-MX" dirty="0"/>
              <a:t>Aunque los resultados finales en el conjunto de prueba de </a:t>
            </a:r>
            <a:r>
              <a:rPr lang="es-MX" dirty="0" err="1"/>
              <a:t>Kaggle</a:t>
            </a:r>
            <a:r>
              <a:rPr lang="es-MX" dirty="0"/>
              <a:t> no son observables, el enfoque demostró ser robusto, replicable y extensible a nuevos modelos base.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28104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397</Words>
  <Application>Microsoft Office PowerPoint</Application>
  <PresentationFormat>Presentación en pantalla (4:3)</PresentationFormat>
  <Paragraphs>44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VIVIAN CABANZO FERNÁNDEZ LAURA DANIELA DIAZ TORRES CRISTIAN FELIPE MUÑOZ GUERRERO ZENNETH OLIVERO TAPIA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Vivian Cabanzo Fernandez</cp:lastModifiedBy>
  <cp:revision>59</cp:revision>
  <dcterms:created xsi:type="dcterms:W3CDTF">2008-03-12T20:06:52Z</dcterms:created>
  <dcterms:modified xsi:type="dcterms:W3CDTF">2025-10-21T03:09:55Z</dcterms:modified>
</cp:coreProperties>
</file>