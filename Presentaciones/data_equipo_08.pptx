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4" r:id="rId2"/>
    <p:sldId id="271" r:id="rId3"/>
    <p:sldId id="265" r:id="rId4"/>
    <p:sldId id="266" r:id="rId5"/>
    <p:sldId id="270" r:id="rId6"/>
    <p:sldId id="268" r:id="rId7"/>
    <p:sldId id="269" r:id="rId8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1203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20/10/2025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5A61EF-A413-4572-B9C0-15D2EEC59714}" type="slidenum">
              <a:rPr lang="es-CO" altLang="es-CO" smtClean="0"/>
              <a:pPr/>
              <a:t>6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428630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2 – </a:t>
            </a:r>
            <a:r>
              <a:rPr lang="es-CO" b="1" dirty="0" err="1"/>
              <a:t>Predicting</a:t>
            </a:r>
            <a:r>
              <a:rPr lang="es-CO" b="1" dirty="0"/>
              <a:t> </a:t>
            </a:r>
            <a:r>
              <a:rPr lang="es-CO" b="1" dirty="0" err="1"/>
              <a:t>Poverty</a:t>
            </a: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data_equipo_08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Limpieza de datos, construcción y transformación de variables, definición de bases de datos finales.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09B7B26F-FFD6-56DF-2777-46F1209C8A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764" y="2443364"/>
            <a:ext cx="8407236" cy="2463861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23C73C8E-6C08-A6DF-5824-FAEB24E8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916832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XGBoost</a:t>
            </a:r>
            <a:r>
              <a:rPr lang="es-CO" altLang="es-CO" dirty="0"/>
              <a:t> + CART Ensemble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F5ABE4-E37F-C457-F840-318F45C07DB3}"/>
              </a:ext>
            </a:extLst>
          </p:cNvPr>
          <p:cNvSpPr txBox="1"/>
          <p:nvPr/>
        </p:nvSpPr>
        <p:spPr>
          <a:xfrm>
            <a:off x="1043608" y="5013176"/>
            <a:ext cx="71652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El modelo fue seleccionado porque logra </a:t>
            </a:r>
            <a:r>
              <a:rPr lang="es-ES" b="1" dirty="0"/>
              <a:t>mayor estabilidad y precisión</a:t>
            </a:r>
            <a:r>
              <a:rPr lang="es-ES" dirty="0"/>
              <a:t>, mejorando el F1-score frente a todos los modelos individuales y manteniendo una estructura explicativa que facilita su interpretación.</a:t>
            </a:r>
          </a:p>
        </p:txBody>
      </p:sp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723801" y="965325"/>
            <a:ext cx="8096671" cy="500062"/>
          </a:xfrm>
        </p:spPr>
        <p:txBody>
          <a:bodyPr/>
          <a:lstStyle/>
          <a:p>
            <a:r>
              <a:rPr lang="es-CO" sz="2000" dirty="0"/>
              <a:t>BASES DE DATOS INICIALES Y EXPLORACIÓN DE VARIABLES</a:t>
            </a:r>
          </a:p>
        </p:txBody>
      </p:sp>
      <p:pic>
        <p:nvPicPr>
          <p:cNvPr id="13" name="Marcador de contenido 1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1" y="2251369"/>
            <a:ext cx="7858125" cy="1802946"/>
          </a:xfrm>
        </p:spPr>
      </p:pic>
      <p:sp>
        <p:nvSpPr>
          <p:cNvPr id="15" name="Rectángulo 14"/>
          <p:cNvSpPr/>
          <p:nvPr/>
        </p:nvSpPr>
        <p:spPr>
          <a:xfrm>
            <a:off x="663015" y="1556792"/>
            <a:ext cx="862095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/>
              <a:t>Las bases de datos iniciales se obtuvieron de la competencia de </a:t>
            </a:r>
            <a:r>
              <a:rPr lang="es-CO" dirty="0" err="1"/>
              <a:t>Kaggle</a:t>
            </a:r>
            <a:endParaRPr lang="es-CO" dirty="0"/>
          </a:p>
          <a:p>
            <a:r>
              <a:rPr lang="es-CO" b="1" dirty="0"/>
              <a:t>uniandes-bdml-2025_20-ps2</a:t>
            </a:r>
          </a:p>
          <a:p>
            <a:endParaRPr lang="es-CO" dirty="0"/>
          </a:p>
        </p:txBody>
      </p:sp>
      <p:sp>
        <p:nvSpPr>
          <p:cNvPr id="16" name="Rectángulo 15"/>
          <p:cNvSpPr/>
          <p:nvPr/>
        </p:nvSpPr>
        <p:spPr>
          <a:xfrm>
            <a:off x="707599" y="4151826"/>
            <a:ext cx="86209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/>
              <a:t>Variables en común en bases de entrenamiento y de prueba en el nivel Hogares:</a:t>
            </a:r>
          </a:p>
        </p:txBody>
      </p:sp>
      <p:pic>
        <p:nvPicPr>
          <p:cNvPr id="14" name="Imagen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1" y="4549827"/>
            <a:ext cx="7858125" cy="21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505619" y="869724"/>
            <a:ext cx="8229600" cy="500062"/>
          </a:xfrm>
        </p:spPr>
        <p:txBody>
          <a:bodyPr/>
          <a:lstStyle/>
          <a:p>
            <a:r>
              <a:rPr lang="es-CO" dirty="0">
                <a:latin typeface="CMR12"/>
              </a:rPr>
              <a:t>Exploración de variables y datos faltantes en Hogares</a:t>
            </a: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517044"/>
            <a:ext cx="4176464" cy="5177502"/>
          </a:xfrm>
          <a:prstGeom prst="rect">
            <a:avLst/>
          </a:prstGeom>
        </p:spPr>
      </p:pic>
      <p:pic>
        <p:nvPicPr>
          <p:cNvPr id="10" name="Marcador de contenido 9"/>
          <p:cNvPicPr>
            <a:picLocks noGrp="1" noChangeAspect="1"/>
          </p:cNvPicPr>
          <p:nvPr>
            <p:ph idx="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1519027"/>
            <a:ext cx="4860032" cy="3663023"/>
          </a:xfrm>
        </p:spPr>
      </p:pic>
      <p:sp>
        <p:nvSpPr>
          <p:cNvPr id="11" name="CuadroTexto 10"/>
          <p:cNvSpPr txBox="1"/>
          <p:nvPr/>
        </p:nvSpPr>
        <p:spPr>
          <a:xfrm>
            <a:off x="4427984" y="5476567"/>
            <a:ext cx="44409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200" dirty="0"/>
              <a:t>Eliminación de variables con datos faltantes &gt;5% y</a:t>
            </a:r>
            <a:r>
              <a:rPr lang="es-MX" sz="1200" dirty="0"/>
              <a:t> aquellas que no aportan valor a la predicción de la condición de pobreza, como los factores de expansión, la línea de pobreza (utilizada para construir la variable dicótoma Pobre), la línea de indigencia y número de personas en la unidad de gasto.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2091562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70848" y="908720"/>
            <a:ext cx="8229600" cy="500062"/>
          </a:xfrm>
        </p:spPr>
        <p:txBody>
          <a:bodyPr/>
          <a:lstStyle/>
          <a:p>
            <a:r>
              <a:rPr lang="es-CO" dirty="0">
                <a:latin typeface="CMR12"/>
              </a:rPr>
              <a:t>Exploración de variables y datos faltantes en Personas</a:t>
            </a:r>
            <a:endParaRPr lang="es-CO" dirty="0"/>
          </a:p>
        </p:txBody>
      </p:sp>
      <p:pic>
        <p:nvPicPr>
          <p:cNvPr id="5" name="Marcador de contenido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1772816"/>
            <a:ext cx="3312368" cy="2233265"/>
          </a:xfrm>
        </p:spPr>
      </p:pic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960" y="1772816"/>
            <a:ext cx="4680520" cy="4896544"/>
          </a:xfrm>
        </p:spPr>
      </p:pic>
      <p:sp>
        <p:nvSpPr>
          <p:cNvPr id="7" name="CuadroTexto 6"/>
          <p:cNvSpPr txBox="1"/>
          <p:nvPr/>
        </p:nvSpPr>
        <p:spPr>
          <a:xfrm>
            <a:off x="751164" y="4370115"/>
            <a:ext cx="33027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/>
              <a:t>Se utilizó el identificador </a:t>
            </a:r>
            <a:r>
              <a:rPr lang="es-MX" sz="1400" dirty="0"/>
              <a:t>del hogar para transferir a las bases de hogares la información relacionada con </a:t>
            </a:r>
            <a:r>
              <a:rPr lang="es-MX" sz="1400" b="1" i="1" dirty="0"/>
              <a:t>el sexo, la edad, el nivel educativo y la actividad u ocupación del jefe del hogar</a:t>
            </a:r>
            <a:r>
              <a:rPr lang="es-MX" sz="1400" dirty="0"/>
              <a:t>. Las demás variables se consideran irrelevantes para el presente estudio dada la información que representan y la cantidad de datos faltantes.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4181686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3568" y="1052736"/>
            <a:ext cx="8229600" cy="500062"/>
          </a:xfrm>
        </p:spPr>
        <p:txBody>
          <a:bodyPr/>
          <a:lstStyle/>
          <a:p>
            <a:r>
              <a:rPr lang="es-CO" dirty="0"/>
              <a:t>Bases de datos finales</a:t>
            </a:r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61" y="1547243"/>
            <a:ext cx="8316924" cy="3748410"/>
          </a:xfr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61" y="5342866"/>
            <a:ext cx="5369392" cy="1515012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6078059" y="5342866"/>
            <a:ext cx="280962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/>
              <a:t>Imputación por la moda en valores faltantes de Actividad u ocupación y Nivel educativo del jefe del hogar.</a:t>
            </a:r>
          </a:p>
          <a:p>
            <a:pPr algn="just"/>
            <a:r>
              <a:rPr lang="es-CO" sz="1400" dirty="0"/>
              <a:t>Variable Pobre únicamente en base de entrenamiento.</a:t>
            </a:r>
          </a:p>
        </p:txBody>
      </p:sp>
    </p:spTree>
    <p:extLst>
      <p:ext uri="{BB962C8B-B14F-4D97-AF65-F5344CB8AC3E}">
        <p14:creationId xmlns:p14="http://schemas.microsoft.com/office/powerpoint/2010/main" val="3405093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3568" y="1052736"/>
            <a:ext cx="8229600" cy="500062"/>
          </a:xfrm>
        </p:spPr>
        <p:txBody>
          <a:bodyPr/>
          <a:lstStyle/>
          <a:p>
            <a:r>
              <a:rPr lang="es-CO" dirty="0"/>
              <a:t>Variable Objetivo: Pobre</a:t>
            </a:r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2714625"/>
            <a:ext cx="5800725" cy="414337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/>
              <p:cNvSpPr txBox="1"/>
              <p:nvPr/>
            </p:nvSpPr>
            <p:spPr>
              <a:xfrm>
                <a:off x="251520" y="1700808"/>
                <a:ext cx="8424936" cy="811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Pobre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Ingreso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&lt;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í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nea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de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Pobreza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i="1" dirty="0">
                  <a:latin typeface="Cambria Math" panose="02040503050406030204" pitchFamily="18" charset="0"/>
                </a:endParaRPr>
              </a:p>
              <a:p>
                <a:r>
                  <a:rPr lang="es-CO" dirty="0"/>
                  <a:t>Donde, </a:t>
                </a:r>
                <a14:m>
                  <m:oMath xmlns:m="http://schemas.openxmlformats.org/officeDocument/2006/math">
                    <m:r>
                      <a:rPr lang="es-CO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s-C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𝐹𝑢𝑛𝑐𝑖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𝑖𝑛𝑑𝑖𝑐𝑎𝑑𝑜𝑟𝑎</m:t>
                        </m:r>
                      </m:e>
                    </m:d>
                    <m:r>
                      <a:rPr lang="es-CO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C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C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𝑖𝑛𝑓𝑒𝑟𝑖𝑜𝑟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𝑙𝑎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𝑛𝑒𝑎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𝑃𝑜𝑏𝑟𝑒𝑧𝑎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(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𝑃𝑜𝑏𝑟𝑒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,    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𝑠𝑢𝑝𝑒𝑟𝑖𝑜𝑟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𝑙𝑎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𝑛𝑒𝑎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𝑃𝑜𝑏𝑟𝑒𝑧𝑎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(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𝑁𝑜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𝑃𝑜𝑏𝑟𝑒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</m:oMath>
                </a14:m>
                <a:endParaRPr lang="es-CO" dirty="0"/>
              </a:p>
            </p:txBody>
          </p:sp>
        </mc:Choice>
        <mc:Fallback xmlns="">
          <p:sp>
            <p:nvSpPr>
              <p:cNvPr id="5" name="Cuadro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700808"/>
                <a:ext cx="8424936" cy="811441"/>
              </a:xfrm>
              <a:prstGeom prst="rect">
                <a:avLst/>
              </a:prstGeom>
              <a:blipFill>
                <a:blip r:embed="rId3"/>
                <a:stretch>
                  <a:fillRect l="-579" b="-375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49906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313</Words>
  <Application>Microsoft Office PowerPoint</Application>
  <PresentationFormat>Presentación en pantalla (4:3)</PresentationFormat>
  <Paragraphs>26</Paragraphs>
  <Slides>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CMR12</vt:lpstr>
      <vt:lpstr>Tema de Office</vt:lpstr>
      <vt:lpstr>VIVIAN CABANZO FERNÁNDEZ LAURA DANIELA DIAZ TORRES CRISTIAN FELIPE MUÑOZ GUERRERO ZENNETH OLIVERO TAPIA</vt:lpstr>
      <vt:lpstr>Best model overview – XGBoost + CART Ensemble</vt:lpstr>
      <vt:lpstr>BASES DE DATOS INICIALES Y EXPLORACIÓN DE VARIABLES</vt:lpstr>
      <vt:lpstr>Exploración de variables y datos faltantes en Hogares</vt:lpstr>
      <vt:lpstr>Exploración de variables y datos faltantes en Personas</vt:lpstr>
      <vt:lpstr>Bases de datos finales</vt:lpstr>
      <vt:lpstr>Variable Objetivo: Pobre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Vivian Cabanzo Fernandez</cp:lastModifiedBy>
  <cp:revision>72</cp:revision>
  <dcterms:created xsi:type="dcterms:W3CDTF">2008-03-12T20:06:52Z</dcterms:created>
  <dcterms:modified xsi:type="dcterms:W3CDTF">2025-10-21T03:17:03Z</dcterms:modified>
</cp:coreProperties>
</file>