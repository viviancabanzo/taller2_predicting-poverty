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64" r:id="rId2"/>
    <p:sldId id="271" r:id="rId3"/>
    <p:sldId id="265" r:id="rId4"/>
    <p:sldId id="266" r:id="rId5"/>
    <p:sldId id="270" r:id="rId6"/>
    <p:sldId id="268" r:id="rId7"/>
    <p:sldId id="269" r:id="rId8"/>
  </p:sldIdLst>
  <p:sldSz cx="9144000" cy="6858000" type="screen4x3"/>
  <p:notesSz cx="6858000" cy="9144000"/>
  <p:defaultTextStyle>
    <a:defPPr>
      <a:defRPr lang="es-CO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70" d="100"/>
          <a:sy n="70" d="100"/>
        </p:scale>
        <p:origin x="1386" y="-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>
            <a:extLst>
              <a:ext uri="{FF2B5EF4-FFF2-40B4-BE49-F238E27FC236}">
                <a16:creationId xmlns:a16="http://schemas.microsoft.com/office/drawing/2014/main" id="{BE92C949-3083-DDAE-E552-734562EA9E6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3" name="2 Marcador de fecha">
            <a:extLst>
              <a:ext uri="{FF2B5EF4-FFF2-40B4-BE49-F238E27FC236}">
                <a16:creationId xmlns:a16="http://schemas.microsoft.com/office/drawing/2014/main" id="{4CC3DC6C-364C-00C5-19A9-017DFB754B1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1D4BBDB3-7AC8-49E5-9A73-4603E77AAF12}" type="datetimeFigureOut">
              <a:rPr lang="es-CO"/>
              <a:pPr>
                <a:defRPr/>
              </a:pPr>
              <a:t>19/10/2025</a:t>
            </a:fld>
            <a:endParaRPr lang="es-CO"/>
          </a:p>
        </p:txBody>
      </p:sp>
      <p:sp>
        <p:nvSpPr>
          <p:cNvPr id="4" name="3 Marcador de imagen de diapositiva">
            <a:extLst>
              <a:ext uri="{FF2B5EF4-FFF2-40B4-BE49-F238E27FC236}">
                <a16:creationId xmlns:a16="http://schemas.microsoft.com/office/drawing/2014/main" id="{C0328E3C-D08F-2CFD-E068-74D797026F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CO" noProof="0"/>
          </a:p>
        </p:txBody>
      </p:sp>
      <p:sp>
        <p:nvSpPr>
          <p:cNvPr id="5" name="4 Marcador de notas">
            <a:extLst>
              <a:ext uri="{FF2B5EF4-FFF2-40B4-BE49-F238E27FC236}">
                <a16:creationId xmlns:a16="http://schemas.microsoft.com/office/drawing/2014/main" id="{45816F43-1B19-21F2-19C9-1E219C6A74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s-CO" noProof="0"/>
          </a:p>
        </p:txBody>
      </p:sp>
      <p:sp>
        <p:nvSpPr>
          <p:cNvPr id="6" name="5 Marcador de pie de página">
            <a:extLst>
              <a:ext uri="{FF2B5EF4-FFF2-40B4-BE49-F238E27FC236}">
                <a16:creationId xmlns:a16="http://schemas.microsoft.com/office/drawing/2014/main" id="{7C4F3668-4F73-3EC3-24D1-DA1841FF191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7" name="6 Marcador de número de diapositiva">
            <a:extLst>
              <a:ext uri="{FF2B5EF4-FFF2-40B4-BE49-F238E27FC236}">
                <a16:creationId xmlns:a16="http://schemas.microsoft.com/office/drawing/2014/main" id="{0F7CBC64-78FB-9714-7AB3-781A9D2623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fld id="{005A61EF-A413-4572-B9C0-15D2EEC59714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1 Marcador de imagen de diapositiva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099" name="2 Marcador de notas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CO" altLang="es-CO" smtClean="0"/>
          </a:p>
        </p:txBody>
      </p:sp>
      <p:sp>
        <p:nvSpPr>
          <p:cNvPr id="4100" name="3 Marcador de número de diapositiva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7249F-F2BE-47F2-A8AB-0992E5DC4653}" type="slidenum">
              <a:rPr lang="es-CO" altLang="es-CO" smtClean="0"/>
              <a:pPr>
                <a:spcBef>
                  <a:spcPct val="0"/>
                </a:spcBef>
              </a:pPr>
              <a:t>1</a:t>
            </a:fld>
            <a:endParaRPr lang="es-CO" altLang="es-CO" smtClean="0"/>
          </a:p>
        </p:txBody>
      </p:sp>
    </p:spTree>
    <p:extLst>
      <p:ext uri="{BB962C8B-B14F-4D97-AF65-F5344CB8AC3E}">
        <p14:creationId xmlns:p14="http://schemas.microsoft.com/office/powerpoint/2010/main" val="41703272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5A61EF-A413-4572-B9C0-15D2EEC59714}" type="slidenum">
              <a:rPr lang="es-CO" altLang="es-CO" smtClean="0"/>
              <a:pPr/>
              <a:t>6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4286309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C22D8B77-C1D3-0A00-A869-65B12D839A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9BD7C764-0E45-4505-817A-12909C5376F6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177862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E64F5B6D-0F88-EA15-C860-E322D68B04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DA47513-D27B-4AEA-A85D-B9DD5D2AB3F7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755346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61A83241-5594-598F-1BF5-FA5C0DC0D0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0A769A3-85E2-4839-8E5E-8A5436FF1AC9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052756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5C5AD3D6-62F2-FCB9-7094-234CDAE31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D69B23B-F899-451E-B145-7F8D8886E878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3437076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5 Marcador de número de diapositiva">
            <a:extLst>
              <a:ext uri="{FF2B5EF4-FFF2-40B4-BE49-F238E27FC236}">
                <a16:creationId xmlns:a16="http://schemas.microsoft.com/office/drawing/2014/main" id="{D3A27087-6EC7-2356-65C7-D71AE73E81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9C251DF-3702-4306-959F-3E2BD82C35BF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251313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5 Marcador de número de diapositiva">
            <a:extLst>
              <a:ext uri="{FF2B5EF4-FFF2-40B4-BE49-F238E27FC236}">
                <a16:creationId xmlns:a16="http://schemas.microsoft.com/office/drawing/2014/main" id="{2F30945E-3CCA-CF02-2FC4-E0C6EC7F43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815CC389-7F26-4725-9023-4E3F23451391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97754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5 Marcador de número de diapositiva">
            <a:extLst>
              <a:ext uri="{FF2B5EF4-FFF2-40B4-BE49-F238E27FC236}">
                <a16:creationId xmlns:a16="http://schemas.microsoft.com/office/drawing/2014/main" id="{1F36965F-0DB7-FDB6-1BDC-C060CB82D0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DE93947-508A-45BE-86AE-62D57ACA10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576213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6C5A0EE-9FB2-FEB2-6878-507E202ECC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7B7450B-753A-4D0C-B28A-0047C690496A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679548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s-CO" noProof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84546BB-A4E5-3B58-2ACB-27A5C74B19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55E326B-E61B-404A-91AD-F3330371B9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65680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1 Marcador de título">
            <a:extLst>
              <a:ext uri="{FF2B5EF4-FFF2-40B4-BE49-F238E27FC236}">
                <a16:creationId xmlns:a16="http://schemas.microsoft.com/office/drawing/2014/main" id="{5CB46EE3-431F-BB36-CA9D-04500F82734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71563" y="1785938"/>
            <a:ext cx="8229600" cy="500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título del patrón</a:t>
            </a:r>
            <a:endParaRPr lang="es-CO" altLang="es-CO"/>
          </a:p>
        </p:txBody>
      </p:sp>
      <p:sp>
        <p:nvSpPr>
          <p:cNvPr id="1027" name="2 Marcador de texto">
            <a:extLst>
              <a:ext uri="{FF2B5EF4-FFF2-40B4-BE49-F238E27FC236}">
                <a16:creationId xmlns:a16="http://schemas.microsoft.com/office/drawing/2014/main" id="{401DA00B-C6A8-2C61-B79B-B7D77AF7FC1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071563" y="2500313"/>
            <a:ext cx="7858125" cy="414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texto del patrón</a:t>
            </a:r>
          </a:p>
          <a:p>
            <a:pPr lvl="1"/>
            <a:r>
              <a:rPr lang="es-ES" altLang="es-CO"/>
              <a:t>Segundo nivel</a:t>
            </a:r>
          </a:p>
          <a:p>
            <a:pPr lvl="2"/>
            <a:r>
              <a:rPr lang="es-ES" altLang="es-CO"/>
              <a:t>Tercer nivel</a:t>
            </a:r>
          </a:p>
          <a:p>
            <a:pPr lvl="3"/>
            <a:r>
              <a:rPr lang="es-ES" altLang="es-CO"/>
              <a:t>Cuarto nivel</a:t>
            </a:r>
          </a:p>
          <a:p>
            <a:pPr lvl="4"/>
            <a:r>
              <a:rPr lang="es-ES" altLang="es-CO"/>
              <a:t>Quinto nivel</a:t>
            </a:r>
            <a:endParaRPr lang="es-CO" altLang="es-CO"/>
          </a:p>
        </p:txBody>
      </p:sp>
      <p:sp>
        <p:nvSpPr>
          <p:cNvPr id="6" name="5 Marcador de número de diapositiva">
            <a:extLst>
              <a:ext uri="{FF2B5EF4-FFF2-40B4-BE49-F238E27FC236}">
                <a16:creationId xmlns:a16="http://schemas.microsoft.com/office/drawing/2014/main" id="{CAA3CB7F-6069-7DE9-612F-7EB7AE84F6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3825" y="6421438"/>
            <a:ext cx="59055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defRPr b="1"/>
            </a:lvl1pPr>
          </a:lstStyle>
          <a:p>
            <a:fld id="{4D557006-C754-4C49-B04C-609781B5F229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 kern="1200">
          <a:solidFill>
            <a:schemeClr val="tx1"/>
          </a:solidFill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2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1 Título"/>
          <p:cNvSpPr>
            <a:spLocks noGrp="1"/>
          </p:cNvSpPr>
          <p:nvPr>
            <p:ph type="ctrTitle"/>
          </p:nvPr>
        </p:nvSpPr>
        <p:spPr>
          <a:xfrm>
            <a:off x="1259632" y="1340768"/>
            <a:ext cx="7772400" cy="1793875"/>
          </a:xfrm>
        </p:spPr>
        <p:txBody>
          <a:bodyPr/>
          <a:lstStyle/>
          <a:p>
            <a:pPr algn="ctr" eaLnBrk="1" hangingPunct="1"/>
            <a:r>
              <a:rPr lang="es-CO" altLang="es-CO" dirty="0"/>
              <a:t>VIVIAN CABANZO FERNÁNDEZ</a:t>
            </a:r>
            <a:br>
              <a:rPr lang="es-CO" altLang="es-CO" dirty="0"/>
            </a:br>
            <a:r>
              <a:rPr lang="es-CO" altLang="es-CO" dirty="0" smtClean="0"/>
              <a:t>LAURA DANIELA DIAZ TORRES</a:t>
            </a:r>
            <a:br>
              <a:rPr lang="es-CO" altLang="es-CO" dirty="0" smtClean="0"/>
            </a:br>
            <a:r>
              <a:rPr lang="es-CO" altLang="es-CO" dirty="0" smtClean="0"/>
              <a:t>CRISTIAN FELIPE MUÑOZ </a:t>
            </a:r>
            <a:r>
              <a:rPr lang="es-CO" altLang="es-CO" dirty="0"/>
              <a:t>GUERRERO</a:t>
            </a:r>
            <a:br>
              <a:rPr lang="es-CO" altLang="es-CO" dirty="0"/>
            </a:br>
            <a:r>
              <a:rPr lang="es-CO" altLang="es-CO" dirty="0"/>
              <a:t>ZENNETH OLIVERO </a:t>
            </a:r>
            <a:r>
              <a:rPr lang="es-CO" altLang="es-CO" dirty="0" smtClean="0"/>
              <a:t>TAPIA</a:t>
            </a:r>
          </a:p>
        </p:txBody>
      </p:sp>
      <p:sp>
        <p:nvSpPr>
          <p:cNvPr id="3" name="2 Subtítulo">
            <a:extLst>
              <a:ext uri="{FF2B5EF4-FFF2-40B4-BE49-F238E27FC236}">
                <a16:creationId xmlns:a16="http://schemas.microsoft.com/office/drawing/2014/main" id="{6A67B959-F5C7-E461-4D06-04057BB871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9672" y="3284984"/>
            <a:ext cx="6400800" cy="3233216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 err="1" smtClean="0"/>
              <a:t>Problem</a:t>
            </a:r>
            <a:r>
              <a:rPr lang="es-CO" b="1" dirty="0" smtClean="0"/>
              <a:t> Set 2 – </a:t>
            </a:r>
            <a:r>
              <a:rPr lang="es-CO" b="1" dirty="0" err="1" smtClean="0"/>
              <a:t>Predicting</a:t>
            </a:r>
            <a:r>
              <a:rPr lang="es-CO" b="1" dirty="0" smtClean="0"/>
              <a:t> </a:t>
            </a:r>
            <a:r>
              <a:rPr lang="es-CO" b="1" dirty="0" err="1" smtClean="0"/>
              <a:t>Poverty</a:t>
            </a: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 smtClean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 smtClean="0"/>
              <a:t>BIG </a:t>
            </a:r>
            <a:r>
              <a:rPr lang="es-CO" b="1" dirty="0"/>
              <a:t>DATA Y MACHINE LEARNING PARA ECONOMIA APLICADA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 smtClean="0"/>
              <a:t>2025-02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dirty="0" smtClean="0"/>
              <a:t>data_equipo_08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 smtClean="0"/>
              <a:t>Limpieza de datos, construcción y transformación de variables, definición de bases de datos finales.</a:t>
            </a:r>
            <a:endParaRPr lang="es-CO" b="1" dirty="0"/>
          </a:p>
        </p:txBody>
      </p:sp>
    </p:spTree>
    <p:extLst>
      <p:ext uri="{BB962C8B-B14F-4D97-AF65-F5344CB8AC3E}">
        <p14:creationId xmlns:p14="http://schemas.microsoft.com/office/powerpoint/2010/main" val="3817588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 smtClean="0"/>
              <a:t>Mejor Modelo de Predicción</a:t>
            </a:r>
            <a:endParaRPr lang="es-CO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O" dirty="0" smtClean="0"/>
              <a:t>Especificación</a:t>
            </a:r>
          </a:p>
          <a:p>
            <a:r>
              <a:rPr lang="es-CO" dirty="0" err="1" smtClean="0"/>
              <a:t>Kaggle</a:t>
            </a:r>
            <a:r>
              <a:rPr lang="es-CO" dirty="0" smtClean="0"/>
              <a:t> Score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2146507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/>
          <p:cNvSpPr>
            <a:spLocks noGrp="1"/>
          </p:cNvSpPr>
          <p:nvPr>
            <p:ph type="title"/>
          </p:nvPr>
        </p:nvSpPr>
        <p:spPr>
          <a:xfrm>
            <a:off x="723801" y="965325"/>
            <a:ext cx="8096671" cy="500062"/>
          </a:xfrm>
        </p:spPr>
        <p:txBody>
          <a:bodyPr/>
          <a:lstStyle/>
          <a:p>
            <a:r>
              <a:rPr lang="es-CO" sz="2000" dirty="0" smtClean="0"/>
              <a:t>BASES DE DATOS INICIALES Y EXPLORACIÓN DE VARIABLES</a:t>
            </a:r>
            <a:endParaRPr lang="es-CO" sz="2000" dirty="0"/>
          </a:p>
        </p:txBody>
      </p:sp>
      <p:pic>
        <p:nvPicPr>
          <p:cNvPr id="13" name="Marcador de contenido 12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801" y="2251369"/>
            <a:ext cx="7858125" cy="1802946"/>
          </a:xfrm>
        </p:spPr>
      </p:pic>
      <p:sp>
        <p:nvSpPr>
          <p:cNvPr id="15" name="Rectángulo 14"/>
          <p:cNvSpPr/>
          <p:nvPr/>
        </p:nvSpPr>
        <p:spPr>
          <a:xfrm>
            <a:off x="663015" y="1556792"/>
            <a:ext cx="8620959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dirty="0" smtClean="0"/>
              <a:t>Las bases de datos iniciales se obtuvieron de la competencia de </a:t>
            </a:r>
            <a:r>
              <a:rPr lang="es-CO" dirty="0" err="1" smtClean="0"/>
              <a:t>Kaggle</a:t>
            </a:r>
            <a:endParaRPr lang="es-CO" dirty="0" smtClean="0"/>
          </a:p>
          <a:p>
            <a:r>
              <a:rPr lang="es-CO" b="1" dirty="0"/>
              <a:t>uniandes-bdml-2025_20-ps2</a:t>
            </a:r>
          </a:p>
          <a:p>
            <a:endParaRPr lang="es-CO" dirty="0"/>
          </a:p>
        </p:txBody>
      </p:sp>
      <p:sp>
        <p:nvSpPr>
          <p:cNvPr id="16" name="Rectángulo 15"/>
          <p:cNvSpPr/>
          <p:nvPr/>
        </p:nvSpPr>
        <p:spPr>
          <a:xfrm>
            <a:off x="707599" y="4151826"/>
            <a:ext cx="862095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dirty="0" smtClean="0"/>
              <a:t>Variables en común en bases de entrenamiento y de prueba en el nivel Hogares:</a:t>
            </a:r>
            <a:endParaRPr lang="es-CO" dirty="0"/>
          </a:p>
        </p:txBody>
      </p:sp>
      <p:pic>
        <p:nvPicPr>
          <p:cNvPr id="14" name="Imagen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801" y="4549827"/>
            <a:ext cx="7858125" cy="217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5028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/>
          <p:cNvSpPr>
            <a:spLocks noGrp="1"/>
          </p:cNvSpPr>
          <p:nvPr>
            <p:ph type="title"/>
          </p:nvPr>
        </p:nvSpPr>
        <p:spPr>
          <a:xfrm>
            <a:off x="505619" y="869724"/>
            <a:ext cx="8229600" cy="500062"/>
          </a:xfrm>
        </p:spPr>
        <p:txBody>
          <a:bodyPr/>
          <a:lstStyle/>
          <a:p>
            <a:r>
              <a:rPr lang="es-CO" dirty="0">
                <a:latin typeface="CMR12"/>
              </a:rPr>
              <a:t>Exploración de </a:t>
            </a:r>
            <a:r>
              <a:rPr lang="es-CO" dirty="0" smtClean="0">
                <a:latin typeface="CMR12"/>
              </a:rPr>
              <a:t>variables y datos faltantes en Hogares</a:t>
            </a:r>
            <a:endParaRPr lang="es-CO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04" y="1517044"/>
            <a:ext cx="4176464" cy="5177502"/>
          </a:xfrm>
          <a:prstGeom prst="rect">
            <a:avLst/>
          </a:prstGeom>
        </p:spPr>
      </p:pic>
      <p:pic>
        <p:nvPicPr>
          <p:cNvPr id="10" name="Marcador de contenido 9"/>
          <p:cNvPicPr>
            <a:picLocks noGrp="1" noChangeAspect="1"/>
          </p:cNvPicPr>
          <p:nvPr>
            <p:ph idx="1"/>
          </p:nvPr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3968" y="1519027"/>
            <a:ext cx="4860032" cy="3663023"/>
          </a:xfrm>
        </p:spPr>
      </p:pic>
      <p:sp>
        <p:nvSpPr>
          <p:cNvPr id="11" name="CuadroTexto 10"/>
          <p:cNvSpPr txBox="1"/>
          <p:nvPr/>
        </p:nvSpPr>
        <p:spPr>
          <a:xfrm>
            <a:off x="4427984" y="5476567"/>
            <a:ext cx="44409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200" dirty="0" smtClean="0"/>
              <a:t>Eliminación de variables con datos faltantes &gt;5% y</a:t>
            </a:r>
            <a:r>
              <a:rPr lang="es-MX" sz="1200" dirty="0" smtClean="0"/>
              <a:t> </a:t>
            </a:r>
            <a:r>
              <a:rPr lang="es-MX" sz="1200" dirty="0"/>
              <a:t>aquellas que no aportan valor a la </a:t>
            </a:r>
            <a:r>
              <a:rPr lang="es-MX" sz="1200" dirty="0" smtClean="0"/>
              <a:t>predicción de la condición </a:t>
            </a:r>
            <a:r>
              <a:rPr lang="es-MX" sz="1200" dirty="0"/>
              <a:t>de pobreza, como los factores de </a:t>
            </a:r>
            <a:r>
              <a:rPr lang="es-MX" sz="1200" dirty="0" smtClean="0"/>
              <a:t>expansión</a:t>
            </a:r>
            <a:r>
              <a:rPr lang="es-MX" sz="1200" dirty="0"/>
              <a:t>, la </a:t>
            </a:r>
            <a:r>
              <a:rPr lang="es-MX" sz="1200" dirty="0" smtClean="0"/>
              <a:t>línea </a:t>
            </a:r>
            <a:r>
              <a:rPr lang="es-MX" sz="1200" dirty="0"/>
              <a:t>de pobreza (utilizada para construir </a:t>
            </a:r>
            <a:r>
              <a:rPr lang="es-MX" sz="1200" dirty="0" smtClean="0"/>
              <a:t>la variable dicótoma </a:t>
            </a:r>
            <a:r>
              <a:rPr lang="es-MX" sz="1200" dirty="0"/>
              <a:t>Pobre</a:t>
            </a:r>
            <a:r>
              <a:rPr lang="es-MX" sz="1200" dirty="0" smtClean="0"/>
              <a:t>), </a:t>
            </a:r>
            <a:r>
              <a:rPr lang="es-MX" sz="1200" dirty="0"/>
              <a:t>la </a:t>
            </a:r>
            <a:r>
              <a:rPr lang="es-MX" sz="1200" dirty="0" smtClean="0"/>
              <a:t>línea </a:t>
            </a:r>
            <a:r>
              <a:rPr lang="es-MX" sz="1200" dirty="0"/>
              <a:t>de </a:t>
            </a:r>
            <a:r>
              <a:rPr lang="es-MX" sz="1200" dirty="0" smtClean="0"/>
              <a:t>indigencia y número de personas en la unidad de gasto.</a:t>
            </a:r>
            <a:endParaRPr lang="es-CO" sz="1200" dirty="0"/>
          </a:p>
        </p:txBody>
      </p:sp>
    </p:spTree>
    <p:extLst>
      <p:ext uri="{BB962C8B-B14F-4D97-AF65-F5344CB8AC3E}">
        <p14:creationId xmlns:p14="http://schemas.microsoft.com/office/powerpoint/2010/main" val="20915626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70848" y="908720"/>
            <a:ext cx="8229600" cy="500062"/>
          </a:xfrm>
        </p:spPr>
        <p:txBody>
          <a:bodyPr/>
          <a:lstStyle/>
          <a:p>
            <a:r>
              <a:rPr lang="es-CO" dirty="0">
                <a:latin typeface="CMR12"/>
              </a:rPr>
              <a:t>Exploración de variables y datos faltantes en Personas</a:t>
            </a:r>
            <a:endParaRPr lang="es-CO" dirty="0"/>
          </a:p>
        </p:txBody>
      </p:sp>
      <p:pic>
        <p:nvPicPr>
          <p:cNvPr id="5" name="Marcador de contenido 4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1772816"/>
            <a:ext cx="3312368" cy="2233265"/>
          </a:xfrm>
        </p:spPr>
      </p:pic>
      <p:pic>
        <p:nvPicPr>
          <p:cNvPr id="6" name="Marcador de contenido 5"/>
          <p:cNvPicPr>
            <a:picLocks noGrp="1" noChangeAspect="1"/>
          </p:cNvPicPr>
          <p:nvPr>
            <p:ph sz="half" idx="2"/>
          </p:nvPr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1960" y="1772816"/>
            <a:ext cx="4680520" cy="4896544"/>
          </a:xfrm>
        </p:spPr>
      </p:pic>
      <p:sp>
        <p:nvSpPr>
          <p:cNvPr id="7" name="CuadroTexto 6"/>
          <p:cNvSpPr txBox="1"/>
          <p:nvPr/>
        </p:nvSpPr>
        <p:spPr>
          <a:xfrm>
            <a:off x="751164" y="4370115"/>
            <a:ext cx="330275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400" dirty="0"/>
              <a:t>S</a:t>
            </a:r>
            <a:r>
              <a:rPr lang="es-CO" sz="1400" dirty="0" smtClean="0"/>
              <a:t>e utilizó </a:t>
            </a:r>
            <a:r>
              <a:rPr lang="es-CO" sz="1400" dirty="0"/>
              <a:t>el </a:t>
            </a:r>
            <a:r>
              <a:rPr lang="es-CO" sz="1400" dirty="0" smtClean="0"/>
              <a:t>identificador </a:t>
            </a:r>
            <a:r>
              <a:rPr lang="es-MX" sz="1400" dirty="0" smtClean="0"/>
              <a:t>del </a:t>
            </a:r>
            <a:r>
              <a:rPr lang="es-MX" sz="1400" dirty="0"/>
              <a:t>hogar para transferir a las bases de </a:t>
            </a:r>
            <a:r>
              <a:rPr lang="es-MX" sz="1400" dirty="0" smtClean="0"/>
              <a:t>hogares la información </a:t>
            </a:r>
            <a:r>
              <a:rPr lang="es-MX" sz="1400" dirty="0"/>
              <a:t>relacionada con </a:t>
            </a:r>
            <a:r>
              <a:rPr lang="es-MX" sz="1400" b="1" i="1" dirty="0"/>
              <a:t>el sexo, la edad, el </a:t>
            </a:r>
            <a:r>
              <a:rPr lang="es-MX" sz="1400" b="1" i="1" dirty="0" smtClean="0"/>
              <a:t>nivel educativo </a:t>
            </a:r>
            <a:r>
              <a:rPr lang="es-MX" sz="1400" b="1" i="1" dirty="0"/>
              <a:t>y </a:t>
            </a:r>
            <a:r>
              <a:rPr lang="es-MX" sz="1400" b="1" i="1" dirty="0" smtClean="0"/>
              <a:t>la actividad </a:t>
            </a:r>
            <a:r>
              <a:rPr lang="es-MX" sz="1400" b="1" i="1" dirty="0"/>
              <a:t>u </a:t>
            </a:r>
            <a:r>
              <a:rPr lang="es-MX" sz="1400" b="1" i="1" dirty="0" smtClean="0"/>
              <a:t>ocupación </a:t>
            </a:r>
            <a:r>
              <a:rPr lang="es-MX" sz="1400" b="1" i="1" dirty="0"/>
              <a:t>del jefe del </a:t>
            </a:r>
            <a:r>
              <a:rPr lang="es-MX" sz="1400" b="1" i="1" dirty="0" smtClean="0"/>
              <a:t>hogar</a:t>
            </a:r>
            <a:r>
              <a:rPr lang="es-MX" sz="1400" dirty="0" smtClean="0"/>
              <a:t>. Las demás </a:t>
            </a:r>
            <a:r>
              <a:rPr lang="es-MX" sz="1400" dirty="0"/>
              <a:t>variables se </a:t>
            </a:r>
            <a:r>
              <a:rPr lang="es-MX" sz="1400" dirty="0" smtClean="0"/>
              <a:t>consideran irrelevantes para </a:t>
            </a:r>
            <a:r>
              <a:rPr lang="es-MX" sz="1400" dirty="0"/>
              <a:t>el presente estudio dada la </a:t>
            </a:r>
            <a:r>
              <a:rPr lang="es-MX" sz="1400" dirty="0" smtClean="0"/>
              <a:t>información </a:t>
            </a:r>
            <a:r>
              <a:rPr lang="es-MX" sz="1400" dirty="0"/>
              <a:t>que representan y la </a:t>
            </a:r>
            <a:r>
              <a:rPr lang="es-MX" sz="1400" dirty="0" smtClean="0"/>
              <a:t>cantidad </a:t>
            </a:r>
            <a:r>
              <a:rPr lang="es-MX" sz="1400" dirty="0"/>
              <a:t>de datos faltantes.</a:t>
            </a:r>
            <a:endParaRPr lang="es-CO" sz="1400" dirty="0"/>
          </a:p>
        </p:txBody>
      </p:sp>
    </p:spTree>
    <p:extLst>
      <p:ext uri="{BB962C8B-B14F-4D97-AF65-F5344CB8AC3E}">
        <p14:creationId xmlns:p14="http://schemas.microsoft.com/office/powerpoint/2010/main" val="41816869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3568" y="1052736"/>
            <a:ext cx="8229600" cy="500062"/>
          </a:xfrm>
        </p:spPr>
        <p:txBody>
          <a:bodyPr/>
          <a:lstStyle/>
          <a:p>
            <a:r>
              <a:rPr lang="es-CO" dirty="0" smtClean="0"/>
              <a:t>Bases de datos finales</a:t>
            </a:r>
            <a:endParaRPr lang="es-CO" dirty="0"/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761" y="1547243"/>
            <a:ext cx="8316924" cy="3748410"/>
          </a:xfr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761" y="5342866"/>
            <a:ext cx="5369392" cy="1515012"/>
          </a:xfrm>
          <a:prstGeom prst="rect">
            <a:avLst/>
          </a:prstGeom>
        </p:spPr>
      </p:pic>
      <p:sp>
        <p:nvSpPr>
          <p:cNvPr id="6" name="CuadroTexto 5"/>
          <p:cNvSpPr txBox="1"/>
          <p:nvPr/>
        </p:nvSpPr>
        <p:spPr>
          <a:xfrm>
            <a:off x="6078059" y="5342866"/>
            <a:ext cx="280962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400" dirty="0" smtClean="0"/>
              <a:t>Imputación por la moda en valores faltantes de Actividad u ocupación y Nivel educativo del jefe del hogar.</a:t>
            </a:r>
          </a:p>
          <a:p>
            <a:pPr algn="just"/>
            <a:r>
              <a:rPr lang="es-CO" sz="1400" dirty="0" smtClean="0"/>
              <a:t>Variable Pobre únicamente en base de entrenamiento.</a:t>
            </a:r>
            <a:endParaRPr lang="es-CO" sz="1400" dirty="0"/>
          </a:p>
        </p:txBody>
      </p:sp>
    </p:spTree>
    <p:extLst>
      <p:ext uri="{BB962C8B-B14F-4D97-AF65-F5344CB8AC3E}">
        <p14:creationId xmlns:p14="http://schemas.microsoft.com/office/powerpoint/2010/main" val="34050934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3568" y="1052736"/>
            <a:ext cx="8229600" cy="500062"/>
          </a:xfrm>
        </p:spPr>
        <p:txBody>
          <a:bodyPr/>
          <a:lstStyle/>
          <a:p>
            <a:r>
              <a:rPr lang="es-CO" dirty="0" smtClean="0"/>
              <a:t>Variable Objetivo: Pobre</a:t>
            </a:r>
            <a:endParaRPr lang="es-CO" dirty="0"/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1680" y="2714625"/>
            <a:ext cx="5800725" cy="4143375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CuadroTexto 4"/>
              <p:cNvSpPr txBox="1"/>
              <p:nvPr/>
            </p:nvSpPr>
            <p:spPr>
              <a:xfrm>
                <a:off x="251520" y="1700808"/>
                <a:ext cx="8424936" cy="811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Pobre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*(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Ingreso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 &lt; 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í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nea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de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Pobreza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CO" i="1" dirty="0">
                  <a:latin typeface="Cambria Math" panose="02040503050406030204" pitchFamily="18" charset="0"/>
                </a:endParaRPr>
              </a:p>
              <a:p>
                <a:r>
                  <a:rPr lang="es-CO" dirty="0" smtClean="0"/>
                  <a:t>Donde, </a:t>
                </a:r>
                <a14:m>
                  <m:oMath xmlns:m="http://schemas.openxmlformats.org/officeDocument/2006/math">
                    <m:r>
                      <a:rPr lang="es-CO" b="0" i="1" smtClean="0"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ctrlPr>
                          <a:rPr lang="es-CO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𝐹𝑢𝑛𝑐𝑖</m:t>
                        </m:r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ó</m:t>
                        </m:r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𝑖𝑛𝑑𝑖𝑐𝑎𝑑𝑜𝑟𝑎</m:t>
                        </m:r>
                      </m:e>
                    </m:d>
                    <m:r>
                      <a:rPr lang="es-CO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s-CO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CO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1,   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𝑖𝑛𝑔𝑟𝑒𝑠𝑜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𝑖𝑛𝑓𝑒𝑟𝑖𝑜𝑟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𝑙𝑎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í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𝑛𝑒𝑎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𝑑𝑒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𝑃𝑜𝑏𝑟𝑒𝑧𝑎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(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𝑃𝑜𝑏𝑟𝑒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0,     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𝑖𝑛𝑔𝑟𝑒𝑠𝑜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𝑠𝑢𝑝𝑒𝑟𝑖𝑜𝑟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𝑙𝑎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í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𝑛𝑒𝑎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𝑑𝑒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𝑃𝑜𝑏𝑟𝑒𝑧𝑎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(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𝑁𝑜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𝑃𝑜𝑏𝑟𝑒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e>
                    </m:d>
                  </m:oMath>
                </a14:m>
                <a:endParaRPr lang="es-CO" dirty="0"/>
              </a:p>
            </p:txBody>
          </p:sp>
        </mc:Choice>
        <mc:Fallback>
          <p:sp>
            <p:nvSpPr>
              <p:cNvPr id="5" name="CuadroTexto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20" y="1700808"/>
                <a:ext cx="8424936" cy="811441"/>
              </a:xfrm>
              <a:prstGeom prst="rect">
                <a:avLst/>
              </a:prstGeom>
              <a:blipFill>
                <a:blip r:embed="rId3"/>
                <a:stretch>
                  <a:fillRect l="-579" b="-3759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24990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575</TotalTime>
  <Words>260</Words>
  <Application>Microsoft Office PowerPoint</Application>
  <PresentationFormat>Presentación en pantalla (4:3)</PresentationFormat>
  <Paragraphs>27</Paragraphs>
  <Slides>7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2" baseType="lpstr">
      <vt:lpstr>Arial</vt:lpstr>
      <vt:lpstr>Calibri</vt:lpstr>
      <vt:lpstr>Cambria Math</vt:lpstr>
      <vt:lpstr>CMR12</vt:lpstr>
      <vt:lpstr>Tema de Office</vt:lpstr>
      <vt:lpstr>VIVIAN CABANZO FERNÁNDEZ LAURA DANIELA DIAZ TORRES CRISTIAN FELIPE MUÑOZ GUERRERO ZENNETH OLIVERO TAPIA</vt:lpstr>
      <vt:lpstr>Mejor Modelo de Predicción</vt:lpstr>
      <vt:lpstr>BASES DE DATOS INICIALES Y EXPLORACIÓN DE VARIABLES</vt:lpstr>
      <vt:lpstr>Exploración de variables y datos faltantes en Hogares</vt:lpstr>
      <vt:lpstr>Exploración de variables y datos faltantes en Personas</vt:lpstr>
      <vt:lpstr>Bases de datos finales</vt:lpstr>
      <vt:lpstr>Variable Objetivo: Pobre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Hugo</dc:creator>
  <cp:lastModifiedBy>Laura Diaz Torres</cp:lastModifiedBy>
  <cp:revision>70</cp:revision>
  <dcterms:created xsi:type="dcterms:W3CDTF">2008-03-12T20:06:52Z</dcterms:created>
  <dcterms:modified xsi:type="dcterms:W3CDTF">2025-10-19T10:59:48Z</dcterms:modified>
</cp:coreProperties>
</file>